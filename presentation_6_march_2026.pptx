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9" r:id="rId5"/>
    <p:sldId id="261" r:id="rId6"/>
    <p:sldId id="260" r:id="rId7"/>
    <p:sldId id="263" r:id="rId8"/>
    <p:sldId id="265" r:id="rId9"/>
    <p:sldId id="258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AFD65-ADEC-7295-27CB-3DD7D4CDD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8C897-8990-719A-9C07-584D5B955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7C59B-15F0-C62F-46FF-4C0AC3B7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1011-0B8E-40B0-B333-E081CF3EF4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E9332-B52B-0967-C219-715D27693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55B2A-052B-3646-A7ED-07F656467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EA00-16BE-4099-BBC5-1E6CDA0A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2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AB9DB-2767-D440-765F-E6007A086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A4F43-2405-2675-B81F-57338A155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C975F-18BC-2D6A-E5DF-3CFF6B18F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1011-0B8E-40B0-B333-E081CF3EF4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A0FD6-8FC2-0088-441E-478495CFE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8B81F-B3CF-5BA6-1973-FE67BCB7B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EA00-16BE-4099-BBC5-1E6CDA0A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70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8A2B2-2C53-E93C-D8AB-109DC5EA3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9C60A-E8B0-C2D7-23E4-87843609F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198B6-7949-208D-44E4-379F609D6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1011-0B8E-40B0-B333-E081CF3EF4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5629C-2D82-CA68-94A4-368F5FDB3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8829E-7253-F3C2-666A-B332A63D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EA00-16BE-4099-BBC5-1E6CDA0A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6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B885-083C-0C23-7A84-49C590B81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E3C7F-86FC-DD0E-F574-9EF34FA2C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D02E09-B3D0-AC37-F1EA-C88088D00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967EB-3E9E-AC55-68E8-70CD5773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1011-0B8E-40B0-B333-E081CF3EF4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BBCA4-AA3F-0477-6099-D035F4406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9C027-BC1D-9C5D-66D1-0031E9F22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EA00-16BE-4099-BBC5-1E6CDA0A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30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783F9-4E81-3AD0-6E2D-DB48F4980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C4B32-AD47-AE93-8D89-A417ABFA8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5E341-5C0A-7B8C-2E01-7D986003E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967713-32BE-5A8C-C29B-946204C1F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E2AD4A-0617-5B1C-AD08-6A2E6F6CD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1BBCF7-EA83-2534-64D8-52791BE5E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1011-0B8E-40B0-B333-E081CF3EF4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FE96E2-DC67-A7C4-A87A-BBB54B65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C2F0D1-DB85-BF24-5BB3-EBE2B648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EA00-16BE-4099-BBC5-1E6CDA0A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30157-D315-4548-E38A-942909D67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BB8165-BCDD-F8FA-5F65-CB334EC92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1011-0B8E-40B0-B333-E081CF3EF4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CF2214-22E1-E69E-82D4-1A75F9966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39416-2242-ECF6-E93D-E0752C682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EA00-16BE-4099-BBC5-1E6CDA0A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7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0C4E05-E016-BC76-C1F3-08603E299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1011-0B8E-40B0-B333-E081CF3EF4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07B62A-3D59-4A8C-74EF-DF8377081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DA134-4F96-AE9E-E835-6543E926E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EA00-16BE-4099-BBC5-1E6CDA0A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00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291AC-5C7C-ABFC-686D-CC9B44B32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3BC4C-043A-F8EB-A027-AA1DE1DE9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30779-1FB9-5416-1F4A-7849C7539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AAC7E-2715-94A8-1304-D7ABE1C7B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1011-0B8E-40B0-B333-E081CF3EF4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F341A-F294-F26C-21DC-0B782E892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50081-06B2-6B99-B40A-65FF3C5C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EA00-16BE-4099-BBC5-1E6CDA0A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97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6625D-384A-178F-6F76-0168DAA60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F0285F-AF21-F251-6104-66CE2CD826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31C972-FD7D-7C0F-CE4A-56F6BFD59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796399-E147-DE60-28A7-2C4FAF78F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1011-0B8E-40B0-B333-E081CF3EF4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371753-5622-6F5E-CDB2-5F400B7F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BABF0-D484-E123-2C59-06935DD5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EA00-16BE-4099-BBC5-1E6CDA0A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62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FF82D-61F5-8329-1350-15E050385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1355D2-778E-116B-4AA5-E1DAB256C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14BAF-3C67-761D-D22C-4E5CBF609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1011-0B8E-40B0-B333-E081CF3EF4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56A2A-EB6D-006E-0F7F-3D15EC163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FEB3F-C45A-3384-3A28-5A02C7CF2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EA00-16BE-4099-BBC5-1E6CDA0A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97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DD1468-E110-B23C-34B0-D80080C478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E5AC29-049A-9FEE-3A70-6CB34EE27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A7794-A8C9-346A-ECEC-102DF7612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1011-0B8E-40B0-B333-E081CF3EF4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ED9E9-FC1F-33D6-7559-61E53982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C1E99-6CFD-F7DB-DE77-8B4BCA39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EA00-16BE-4099-BBC5-1E6CDA0A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91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EE2CCA-D73E-2324-AD68-FEF71A74F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547CF-AAA7-A741-D46A-6D65C92CD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D9F00-F1C4-7F86-6F94-EADF66C18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31011-0B8E-40B0-B333-E081CF3EF4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C2EDF-99F7-35CD-7E84-7E71E2097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81B31-ED25-836C-C7C2-4DE034060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FEA00-16BE-4099-BBC5-1E6CDA0A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56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C7285-E3BE-9117-873B-7D02D59A2C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Querying the Hebrew Bible with Text-Fabric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02074-86E3-2111-1AD3-A93571176D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short introduction</a:t>
            </a:r>
          </a:p>
          <a:p>
            <a:r>
              <a:rPr lang="en-US" dirty="0"/>
              <a:t>By</a:t>
            </a:r>
          </a:p>
          <a:p>
            <a:r>
              <a:rPr lang="en-US" dirty="0"/>
              <a:t>Martijn </a:t>
            </a:r>
            <a:r>
              <a:rPr lang="en-US" dirty="0" err="1"/>
              <a:t>Naaijer</a:t>
            </a:r>
            <a:endParaRPr lang="en-US" dirty="0"/>
          </a:p>
          <a:p>
            <a:r>
              <a:rPr lang="en-US"/>
              <a:t>March/April 2026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F85940-DE8F-CE06-A6B1-BB6A9BC1E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040" y="5257800"/>
            <a:ext cx="3636271" cy="125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108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EEC44-095D-6CE1-927B-8B3BCC88C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0DF9C-B759-20A2-E33B-3A520F2B5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Plan</a:t>
            </a:r>
          </a:p>
          <a:p>
            <a:r>
              <a:rPr lang="en-US" dirty="0"/>
              <a:t>Open Source vs Closed Source</a:t>
            </a:r>
          </a:p>
          <a:p>
            <a:r>
              <a:rPr lang="en-US" dirty="0"/>
              <a:t>Queries in Search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396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80ED4-CFC3-C7A5-ACC3-A3C0AA30F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59AC0-DE93-A978-4AE1-93DB1ABD4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Goals:</a:t>
            </a:r>
          </a:p>
          <a:p>
            <a:endParaRPr lang="en-US" dirty="0"/>
          </a:p>
          <a:p>
            <a:r>
              <a:rPr lang="en-US" dirty="0"/>
              <a:t>Make queries in </a:t>
            </a:r>
            <a:r>
              <a:rPr lang="en-US" i="1" dirty="0"/>
              <a:t>Biblia Hebraica </a:t>
            </a:r>
            <a:r>
              <a:rPr lang="en-US" i="1" dirty="0" err="1"/>
              <a:t>Stuttgartensia</a:t>
            </a:r>
            <a:r>
              <a:rPr lang="en-US" i="1" dirty="0"/>
              <a:t> </a:t>
            </a:r>
            <a:r>
              <a:rPr lang="en-US" i="1" dirty="0" err="1"/>
              <a:t>Amstelodamensis</a:t>
            </a:r>
            <a:r>
              <a:rPr lang="en-US" i="1" dirty="0"/>
              <a:t> </a:t>
            </a:r>
            <a:r>
              <a:rPr lang="en-US" dirty="0"/>
              <a:t>(BHSA).</a:t>
            </a:r>
          </a:p>
          <a:p>
            <a:r>
              <a:rPr lang="en-US" dirty="0"/>
              <a:t>Analyze the results.</a:t>
            </a:r>
          </a:p>
        </p:txBody>
      </p:sp>
    </p:spTree>
    <p:extLst>
      <p:ext uri="{BB962C8B-B14F-4D97-AF65-F5344CB8AC3E}">
        <p14:creationId xmlns:p14="http://schemas.microsoft.com/office/powerpoint/2010/main" val="1257089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FFE8C-3E35-8F94-BEEB-B99806E4E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3C6EF-8FC3-1585-49B1-CAFA712BA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 afternoons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1. Introduction, word level queries.</a:t>
            </a:r>
          </a:p>
          <a:p>
            <a:pPr marL="0" indent="0">
              <a:buNone/>
            </a:pPr>
            <a:r>
              <a:rPr lang="en-US" dirty="0"/>
              <a:t>2. Syntactic queries, .</a:t>
            </a:r>
          </a:p>
          <a:p>
            <a:pPr marL="0" indent="0">
              <a:buNone/>
            </a:pPr>
            <a:r>
              <a:rPr lang="en-US" dirty="0"/>
              <a:t>3. Data </a:t>
            </a:r>
            <a:r>
              <a:rPr lang="en-US" dirty="0" err="1"/>
              <a:t>visualisations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614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51000-0FDF-5ABF-B606-70D40830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Source vs Closed Source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0322D7-C807-D93D-02DB-B37A96AAB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6895" y="1825625"/>
            <a:ext cx="104982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50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F8EFE-A045-80AE-0201-6C06CEA6F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Source vs Closed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9A071-16F7-11CD-F1B3-9B5F67420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Or: Text-Fabric vs Accordance</a:t>
            </a:r>
          </a:p>
          <a:p>
            <a:endParaRPr lang="en-US" dirty="0"/>
          </a:p>
          <a:p>
            <a:r>
              <a:rPr lang="en-US" dirty="0"/>
              <a:t>Pros of open source</a:t>
            </a:r>
          </a:p>
          <a:p>
            <a:pPr marL="0" indent="0">
              <a:buNone/>
            </a:pPr>
            <a:r>
              <a:rPr lang="en-US" dirty="0"/>
              <a:t>Free, community-driven innovation, customizable.</a:t>
            </a:r>
          </a:p>
          <a:p>
            <a:endParaRPr lang="en-US" dirty="0"/>
          </a:p>
          <a:p>
            <a:r>
              <a:rPr lang="en-US" dirty="0"/>
              <a:t>Pros of closed source</a:t>
            </a:r>
          </a:p>
          <a:p>
            <a:pPr marL="0" indent="0">
              <a:buNone/>
            </a:pPr>
            <a:r>
              <a:rPr lang="en-US" dirty="0"/>
              <a:t>User-friendly interfaces, high stability, and easy to install/use.</a:t>
            </a:r>
          </a:p>
        </p:txBody>
      </p:sp>
    </p:spTree>
    <p:extLst>
      <p:ext uri="{BB962C8B-B14F-4D97-AF65-F5344CB8AC3E}">
        <p14:creationId xmlns:p14="http://schemas.microsoft.com/office/powerpoint/2010/main" val="1292225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60AFD-C5AC-9F8B-62AB-BE6A71EF9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Source vs Closed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28EC3-D46A-0230-049F-F9FE64C5B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 of Open Source</a:t>
            </a:r>
          </a:p>
          <a:p>
            <a:pPr marL="0" indent="0">
              <a:buNone/>
            </a:pPr>
            <a:r>
              <a:rPr lang="en-US" dirty="0"/>
              <a:t>Requires technical skills, lacks official, guaranteed support, and documentation can be sparse.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 of Closed Source</a:t>
            </a:r>
          </a:p>
          <a:p>
            <a:pPr marL="0" indent="0">
              <a:buNone/>
            </a:pPr>
            <a:r>
              <a:rPr lang="en-US" dirty="0"/>
              <a:t>Expensive licensing, limited customization, dependence on vendor for updates, and less transparency.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256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061F4-F631-F1A3-F1D3-8F74E53ED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Source vs Closed Source: my opinion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3BF38-B024-B118-CFDF-BE9193E0D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Fabric is more flexible than Accordance:</a:t>
            </a:r>
          </a:p>
          <a:p>
            <a:pPr marL="0" indent="0">
              <a:buNone/>
            </a:pPr>
            <a:r>
              <a:rPr lang="en-US" dirty="0"/>
              <a:t>-write queries with Python.</a:t>
            </a:r>
          </a:p>
          <a:p>
            <a:pPr marL="0" indent="0">
              <a:buNone/>
            </a:pPr>
            <a:r>
              <a:rPr lang="en-US" dirty="0"/>
              <a:t>-export query results.</a:t>
            </a:r>
          </a:p>
          <a:p>
            <a:pPr marL="0" indent="0">
              <a:buNone/>
            </a:pPr>
            <a:r>
              <a:rPr lang="en-US" dirty="0"/>
              <a:t>-integration with other datasets (e.g. DSS, SP).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-&gt; It is better suited as a research tool.</a:t>
            </a:r>
          </a:p>
        </p:txBody>
      </p:sp>
    </p:spTree>
    <p:extLst>
      <p:ext uri="{BB962C8B-B14F-4D97-AF65-F5344CB8AC3E}">
        <p14:creationId xmlns:p14="http://schemas.microsoft.com/office/powerpoint/2010/main" val="116765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1FC31-B869-2C08-DDEF-B7C28EA58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for objects with specific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891A4-88B1-1D67-64BC-12BA83C47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types:</a:t>
            </a:r>
          </a:p>
          <a:p>
            <a:r>
              <a:rPr lang="en-US" dirty="0"/>
              <a:t>word</a:t>
            </a:r>
          </a:p>
          <a:p>
            <a:r>
              <a:rPr lang="en-US" dirty="0"/>
              <a:t>phrase</a:t>
            </a:r>
          </a:p>
          <a:p>
            <a:r>
              <a:rPr lang="en-US" dirty="0"/>
              <a:t>clause</a:t>
            </a:r>
          </a:p>
          <a:p>
            <a:r>
              <a:rPr lang="en-US" dirty="0"/>
              <a:t>sentence</a:t>
            </a:r>
          </a:p>
          <a:p>
            <a:r>
              <a:rPr lang="en-US" dirty="0"/>
              <a:t>verse</a:t>
            </a:r>
          </a:p>
          <a:p>
            <a:r>
              <a:rPr lang="en-US" dirty="0"/>
              <a:t>chapter</a:t>
            </a:r>
          </a:p>
          <a:p>
            <a:r>
              <a:rPr lang="en-US" dirty="0"/>
              <a:t>book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50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06509-2926-79AE-4A53-B7B8FC80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E4824-6703-FB93-5C1C-DED43D924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268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1605</TotalTime>
  <Words>221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Querying the Hebrew Bible with Text-Fabric</vt:lpstr>
      <vt:lpstr>Overview</vt:lpstr>
      <vt:lpstr>Goals</vt:lpstr>
      <vt:lpstr>Plan</vt:lpstr>
      <vt:lpstr>Open Source vs Closed Source</vt:lpstr>
      <vt:lpstr>Open Source vs Closed Source</vt:lpstr>
      <vt:lpstr>Open Source vs Closed Source</vt:lpstr>
      <vt:lpstr>Open Source vs Closed Source: my opinion</vt:lpstr>
      <vt:lpstr>Search for objects with specific characteristics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Martijn N</dc:creator>
  <cp:lastModifiedBy>Martijn N</cp:lastModifiedBy>
  <cp:revision>8</cp:revision>
  <dcterms:created xsi:type="dcterms:W3CDTF">2026-03-02T09:51:04Z</dcterms:created>
  <dcterms:modified xsi:type="dcterms:W3CDTF">2026-03-03T13:19:54Z</dcterms:modified>
</cp:coreProperties>
</file>